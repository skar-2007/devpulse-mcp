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ADB95"/>
                </a:solidFill>
                <a:latin typeface="Consolas"/>
              </a:defRPr>
            </a:pPr>
            <a:r>
              <a:t>$ devpulse serve --transport stdio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E5E5E5"/>
                </a:solidFill>
                <a:latin typeface="Consolas"/>
              </a:defRPr>
            </a:pPr>
            <a:r>
              <a:t>DevPulse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A828E"/>
                </a:solidFill>
                <a:latin typeface="Consolas"/>
              </a:defRPr>
            </a:pPr>
            <a:r>
              <a:t>An MCP server that gives Cursor, Claude Code, and Windsurf</a:t>
            </a:r>
            <a:br/>
            <a:r>
              <a:t>the ability to see Docker, Postgres, Snowflake, Git, and your test suite.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937760"/>
            <a:ext cx="3657600" cy="2540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662"/>
                </a:solidFill>
                <a:latin typeface="Consolas"/>
              </a:defRPr>
            </a:pPr>
            <a:r>
              <a:t>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E5E5"/>
                </a:solidFill>
                <a:latin typeface="Consolas"/>
              </a:defRPr>
            </a:pPr>
            <a:r>
              <a:t>What actually happens when AI writes your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5400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32004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318"/>
                </a:solidFill>
                <a:latin typeface="Consolas"/>
              </a:defRPr>
            </a:pPr>
            <a:r>
              <a:t>The real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5943600" cy="1883664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// 9:41 AM — Cursor writes a new API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// 9:42 AM — You run it locally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8541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// 9:42 AM — Container crashes immediately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8658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//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8775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// You: ...what happened?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8892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// Cursor: "The code looks correct to me."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900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//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9125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// (It's a missing DB column. Cursor can't see that.)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54B"/>
                </a:solidFill>
                <a:latin typeface="Consolas"/>
              </a:defRPr>
            </a:pPr>
            <a:r>
              <a:t>AI editors are great at writing code. They're blind to everything else.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371600"/>
            <a:ext cx="4572000" cy="4754880"/>
          </a:xfrm>
          <a:prstGeom prst="roundRect">
            <a:avLst/>
          </a:prstGeom>
          <a:solidFill>
            <a:srgbClr val="1A1D24"/>
          </a:solidFill>
          <a:ln w="1270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463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6C75"/>
                </a:solidFill>
                <a:latin typeface="Consolas"/>
              </a:defRPr>
            </a:pPr>
            <a:r>
              <a:t>What AI can't see right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01168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06C7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Docker container logs (crash loops, OOM kills)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06C7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Database schema (missing columns, type mismatches)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06C7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Snowflake warehouse state (tables, views, pipeline errors)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06C7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System resources (CPU throttling, disk full)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06C7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Git history (who broke what, when, why)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06C7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Test results (it wrote the test, but it fails)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06C7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Visual errors (UI bugs, broken layouts — AI is text-only)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06C7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Stack traces (filtered to YOUR code, not node_modules)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662"/>
                </a:solidFill>
                <a:latin typeface="Consolas"/>
              </a:defRPr>
            </a:pPr>
            <a:r>
              <a:t>Every context switch to terminal = 5-15 minutes lost. Multiply by 10-20 times per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E5E5"/>
                </a:solidFill>
                <a:latin typeface="Consolas"/>
              </a:defRPr>
            </a:pPr>
            <a:r>
              <a:t>Model Context Protocol — the missing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540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A828E"/>
                </a:solidFill>
                <a:latin typeface="Consolas"/>
              </a:defRPr>
            </a:pPr>
            <a:r>
              <a:t>MCP is a protocol that lets AI editors discover and call tools</a:t>
            </a:r>
            <a:br/>
            <a:r>
              <a:t>exposed by external servers. Think of it like a plugin system,</a:t>
            </a:r>
            <a:br/>
            <a:r>
              <a:t>but standardized — one server works in Cursor, Claude Code,</a:t>
            </a:r>
            <a:br/>
            <a:r>
              <a:t>Windsurf, Zed, and any future editor that adopts MCP.</a:t>
            </a:r>
            <a:br/>
            <a:br/>
            <a:r>
              <a:t>The AI doesn't need to know HOW to query Docker or Postgres.</a:t>
            </a:r>
            <a:br/>
            <a:r>
              <a:t>It just sees a list of tools with descriptions and schemas.</a:t>
            </a:r>
            <a:br/>
            <a:r>
              <a:t>It calls them like function calls.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389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318"/>
                </a:solidFill>
                <a:latin typeface="Consolas"/>
              </a:defRPr>
            </a:pPr>
            <a:r>
              <a:t>MCP protocol exchange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91640"/>
            <a:ext cx="5303520" cy="4700016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// What Cursor sends to our server: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842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854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"method": "tools/list",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865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"params": {}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877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88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537960" y="2990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// What we return: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1912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924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"tools": [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935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7947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"name": "get_container_logs",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9959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"description": "Fetch logs from a Docker container",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1970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"inputSchema":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982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"type": "object",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5994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"properties":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006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  "container": {"type": "string"},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0017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  "lines": {"type": "integer", "default": 100}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20293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404103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605271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8064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60076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6D4E5"/>
                </a:solidFill>
                <a:latin typeface="Consolas"/>
              </a:defRPr>
            </a:pPr>
            <a:r>
              <a:t>Transport: stdio (local) or SSE (network). One binary, any editor.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6D4E5"/>
                </a:solidFill>
                <a:latin typeface="Consolas"/>
              </a:defRPr>
            </a:pPr>
            <a:r>
              <a:t>Tool: get_container_logs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540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828E"/>
                </a:solidFill>
                <a:latin typeface="Consolas"/>
              </a:defRPr>
            </a:pPr>
            <a:r>
              <a:t>Streams stdout/stderr from any Docker container on your machine.</a:t>
            </a:r>
            <a:br/>
            <a:r>
              <a:t>AI can see crash-loop logs, startup errors, and runtime exceptions</a:t>
            </a:r>
            <a:br/>
            <a:r>
              <a:t>without leaving the chat. Supports filtering by log level and time range.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5303520" cy="32004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443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318"/>
                </a:solidFill>
                <a:latin typeface="Consolas"/>
              </a:defRPr>
            </a:pPr>
            <a:r>
              <a:t>Go — Docker Engine API via dockerode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46120"/>
            <a:ext cx="5303520" cy="4297680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func (t *DockerLogsTool) Execute(ctx context.Context,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387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args map[string]any) (any, error)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398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68680" y="39410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container := args["container"].(string)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422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lines := args["lines"].(int)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68680" y="45445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reader, err := t.client.ContainerLogs(ctx,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4573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container, Docker.ContainerLogsOptions{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4690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    ShowStdout: true,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4807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    ShowStderr: true,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492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    Tail:       fmt.Sprintf("%d", lines),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504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})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7515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if err != nil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5274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return nil, fmt.Errorf("container not found: %w", err)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15391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355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defer reader.Close()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5562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68680" y="67574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// Parse multiplexed stream, return clean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6958583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return io.ReadAll(reader)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7159751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1389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318"/>
                </a:solidFill>
                <a:latin typeface="Consolas"/>
              </a:defRPr>
            </a:pPr>
            <a:r>
              <a:t>Tool output → AI prompt context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691640"/>
            <a:ext cx="5303520" cy="2487168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1783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// What Cursor sees when it calls this tool: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19842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537960" y="21854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Output from get_container_logs("auth-api", 50):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3865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537960" y="25877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2026-09-08T10:23:01Z ERROR: migration failed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2788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  relation "users" column "role" does not exist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2990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2026-09-08T10:23:01Z INFO  shutting 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1912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2026-09-08T10:23:02Z ERROR: exit status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3924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6537960" y="35935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// AI now KNOWS the exact error.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7947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// No copy-paste. No terminal. No guessing.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ADB95"/>
                </a:solidFill>
                <a:latin typeface="Consolas"/>
              </a:defRPr>
            </a:pPr>
            <a:r>
              <a:t>Tool: inspect_db_schema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5400"/>
          </a:xfrm>
          <a:prstGeom prst="rect">
            <a:avLst/>
          </a:prstGeom>
          <a:solidFill>
            <a:srgbClr val="6AD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828E"/>
                </a:solidFill>
                <a:latin typeface="Consolas"/>
              </a:defRPr>
            </a:pPr>
            <a:r>
              <a:t>Connects to any local Postgres/SQLite/MySQL and dumps the full schema</a:t>
            </a:r>
            <a:br/>
            <a:r>
              <a:t>— tables, columns, types, constraints, indices, foreign keys.</a:t>
            </a:r>
            <a:br/>
            <a:r>
              <a:t>AI generates accurate ORM models and migrations from real schema 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5303520" cy="32004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700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318"/>
                </a:solidFill>
                <a:latin typeface="Consolas"/>
              </a:defRPr>
            </a:pPr>
            <a:r>
              <a:t>PostgreSQL — schema introspection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71800"/>
            <a:ext cx="5303520" cy="3694176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-- What we actually query (Postgres):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644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" y="34655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6674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c.table_name,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6791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c.column_name,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c.data_type,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702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c.is_nullable,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714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pgd.description AS column_comment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725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FROM information_schema.columns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737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LEFT JOIN pg_catalog.pg_statio_all_tables 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74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ON c.table_schema = st.schemaname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76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AND c.table_name = st.relname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772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LEFT JOIN pg_catalog.pg_description pgd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784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ON pgd.objoid = st.relid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795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AND pgd.objsubid = c.ordinal_position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0807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WHERE c.table_schema = 'public'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2819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ORDER BY c.table_name, c.ordinal_position;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389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318"/>
                </a:solidFill>
                <a:latin typeface="Consolas"/>
              </a:defRPr>
            </a:pPr>
            <a:r>
              <a:t>Tool output → AI sees real DB state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691640"/>
            <a:ext cx="5303520" cy="3694176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783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// Tool output formatted for LLM context: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19842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537960" y="21854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SCHEMA: public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3865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537960" y="25877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TABLE: users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788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  id          SERIAL      PRIMARY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990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  email       VARCHAR(255) NOT NULL UNIQUE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1912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  name        VARCHAR(100)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3924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  created_at  TIMESTAMP   DEFAULT NOW()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5935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6537960" y="37947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TABLE: orders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9959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  id          SERIAL      PRIMARY KEY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1970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  user_id     INTEGER     REFERENCES users(id)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3982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  total       DECIMAL(10,2)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5994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  status      VARCHAR(20) DEFAULT 'pending'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8006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6537960" y="50017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// AI generates migrations that actually match reality.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678DD"/>
                </a:solidFill>
                <a:latin typeface="Consolas"/>
              </a:defRPr>
            </a:pPr>
            <a:r>
              <a:t>Tools: GitPulse suite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5400"/>
          </a:xfrm>
          <a:prstGeom prst="rect">
            <a:avLst/>
          </a:prstGeom>
          <a:solidFill>
            <a:srgbClr val="C67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286000"/>
          </a:xfrm>
          <a:prstGeom prst="roundRect">
            <a:avLst/>
          </a:prstGeom>
          <a:solidFill>
            <a:srgbClr val="1A1D24"/>
          </a:solidFill>
          <a:ln w="12700">
            <a:solidFill>
              <a:srgbClr val="56D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6D4E5"/>
                </a:solidFill>
                <a:latin typeface="Consolas"/>
              </a:defRPr>
            </a:pPr>
            <a:r>
              <a:t>get_recent_diff_context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828E"/>
                </a:solidFill>
                <a:latin typeface="Consolas"/>
              </a:defRPr>
            </a:pPr>
            <a:r>
              <a:t>Packages uncommitted diffs into</a:t>
            </a:r>
            <a:br/>
            <a:r>
              <a:t>LLM-friendly context. Shows what</a:t>
            </a:r>
            <a:br/>
            <a:r>
              <a:t>changed, where, and why (commit msgs).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371600"/>
            <a:ext cx="3383280" cy="2286000"/>
          </a:xfrm>
          <a:prstGeom prst="roundRect">
            <a:avLst/>
          </a:prstGeom>
          <a:solidFill>
            <a:srgbClr val="1A1D24"/>
          </a:solidFill>
          <a:ln w="12700">
            <a:solidFill>
              <a:srgbClr val="6AD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ADB95"/>
                </a:solidFill>
                <a:latin typeface="Consolas"/>
              </a:defRPr>
            </a:pPr>
            <a:r>
              <a:t>find_expert_for_file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19202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828E"/>
                </a:solidFill>
                <a:latin typeface="Consolas"/>
              </a:defRPr>
            </a:pPr>
            <a:r>
              <a:t>Git blame + commit history analysis.</a:t>
            </a:r>
            <a:br/>
            <a:r>
              <a:t>Tells the AI who last touched this code</a:t>
            </a:r>
            <a:br/>
            <a:r>
              <a:t>and what decisions were made.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383280" cy="2286000"/>
          </a:xfrm>
          <a:prstGeom prst="roundRect">
            <a:avLst/>
          </a:prstGeom>
          <a:solidFill>
            <a:srgbClr val="1A1D24"/>
          </a:solidFill>
          <a:ln w="12700">
            <a:solidFill>
              <a:srgbClr val="F0C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54B"/>
                </a:solidFill>
                <a:latin typeface="Consolas"/>
              </a:defRPr>
            </a:pPr>
            <a:r>
              <a:t>check_breaking_changes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828E"/>
                </a:solidFill>
                <a:latin typeface="Consolas"/>
              </a:defRPr>
            </a:pPr>
            <a:r>
              <a:t>Compares your feature branch against</a:t>
            </a:r>
            <a:br/>
            <a:r>
              <a:t>main. Warns the AI before it refactors</a:t>
            </a:r>
            <a:br/>
            <a:r>
              <a:t>a function that 12 other files depend 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698480" cy="32004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502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318"/>
                </a:solidFill>
                <a:latin typeface="Consolas"/>
              </a:defRPr>
            </a:pPr>
            <a:r>
              <a:t>Under the hood — real git commands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51960"/>
            <a:ext cx="10698480" cy="2487168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43400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# get_recent_diff_context runs: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44568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git diff --cached          # staged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45736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git diff                   # unstaged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46904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git log --oneline -5       # recent commits for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48072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68680" y="5349240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# find_expert_for_file runs: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50408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git blame --line-porcelain src/auth/middleware.go | head -20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751576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git log --follow --format="%h %an %s" -- src/auth/middleware.go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952744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68680" y="6153912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# check_breaking_changes runs: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6355080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git diff main...HEAD -- src/api/   # what changed in your branch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C54B"/>
                </a:solidFill>
                <a:latin typeface="Consolas"/>
              </a:defRPr>
            </a:pPr>
            <a:r>
              <a:t>Tools: TestRig suite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5400"/>
          </a:xfrm>
          <a:prstGeom prst="rect">
            <a:avLst/>
          </a:prstGeom>
          <a:solidFill>
            <a:srgbClr val="F0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828E"/>
                </a:solidFill>
                <a:latin typeface="Consolas"/>
              </a:defRPr>
            </a:pPr>
            <a:r>
              <a:t>run_targeted_tests: Runs pytest/jest/vitest on files related to what the AI just modified.</a:t>
            </a:r>
            <a:br/>
            <a:r>
              <a:t>parse_failure_stacktrace: Filters out node_modules frames, extracts the actual assertion failure,</a:t>
            </a:r>
            <a:br/>
            <a:r>
              <a:t>and formats it so the AI can self-heal without human intervention.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5303520" cy="32004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700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318"/>
                </a:solidFill>
                <a:latin typeface="Consolas"/>
              </a:defRPr>
            </a:pPr>
            <a:r>
              <a:t>Go — subprocess test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71800"/>
            <a:ext cx="5303520" cy="3291839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func (t *TestRunnerTool) Execute(ctx context.Context,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644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args map[string]any) (any, error)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655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68680" y="366674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files := args["files"].([]string)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6791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runner := args["runner"] // "pytest"|"jest"|"vitest"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68680" y="42702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// Build targeted test 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714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cmd := exec.CommandContext(ctx, runner,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725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"--tb=short", "--no-header",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737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fmt.Sprintf("%s...", files[0]))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74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68680" y="5276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output, err := cmd.CombinedOutput()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772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// Parse failures, strip irrelevant frames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784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return formatForLLM(output, err), nil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795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389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318"/>
                </a:solidFill>
                <a:latin typeface="Consolas"/>
              </a:defRPr>
            </a:pPr>
            <a:r>
              <a:t>Stack trace → filtered for LLM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691640"/>
            <a:ext cx="5303520" cy="2688336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783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// Raw pytest output (what AI would normally see):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19842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FAILED tests/test_auth.py::test_login - AssertionError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1854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assert response.status == 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3865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E       assert 401 == 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5877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/venv/lib/python3.11/site-packages/.../models.py:42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788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/src/auth/middleware.py:15  # ← actual 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990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537960" y="31912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// What we feed the AI (filtered):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3924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TEST FAILURE: test_login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5935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Expected: 200, Got: 401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7947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File: src/auth/middleware.py, line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9959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Root cause hint: auth check rejecting valid token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6D4E5"/>
                </a:solidFill>
                <a:latin typeface="Consolas"/>
              </a:defRPr>
            </a:pPr>
            <a:r>
              <a:t>Tool: inspect_snowflake_schema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540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828E"/>
                </a:solidFill>
                <a:latin typeface="Consolas"/>
              </a:defRPr>
            </a:pPr>
            <a:r>
              <a:t>Same pattern as Postgres, targeting Snowflake's INFORMATION_SCHEMA.</a:t>
            </a:r>
            <a:br/>
            <a:r>
              <a:t>AI can see warehouse tables, views, columns, and data types.</a:t>
            </a:r>
            <a:br/>
            <a:r>
              <a:t>Critical for teams running production data pipelines on Snowflake.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5303520" cy="32004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700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318"/>
                </a:solidFill>
                <a:latin typeface="Consolas"/>
              </a:defRPr>
            </a:pPr>
            <a:r>
              <a:t>Snowflake — INFORMATION_SCHEMA 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71800"/>
            <a:ext cx="5303520" cy="3493008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-- Snowflake schema introspection: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644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655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t.table_schema,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6674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t.table_name,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6791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t.table_type,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c.column_name,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702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c.data_type,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714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c.is_nullable,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725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c.comment AS column_comment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737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FROM information_schema.tables 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74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JOIN information_schema.columns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76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ON t.table_catalog = c.table_catalog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772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AND t.table_schema = c.table_schema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784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AND t.table_name = c.table_name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795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WHERE t.table_schema != 'INFORMATION_SCHEMA'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0807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ORDER BY t.table_schema, t.table_name, c.ordinal_position;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389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318"/>
                </a:solidFill>
                <a:latin typeface="Consolas"/>
              </a:defRPr>
            </a:pPr>
            <a:r>
              <a:t>Tool output → AI sees Snowflake state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691640"/>
            <a:ext cx="5303520" cy="3493008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83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// Tool output for LLM: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19842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537960" y="21854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WAREHOUSE: ANALYTICS_DB.PUBLIC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3865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537960" y="25877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VIEW: daily_revenue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788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  date          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990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  revenue       DECIMAL(12,2)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1912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  region        VARCHAR(50)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3924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6537960" y="35935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TABLE: user_events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7947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  event_id      VARCHAR(36)  PRIMARY KEY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9959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  user_id       INTEGER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1970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  event_type    VARCHAR(100)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3982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  created_at    TIMESTAMP_TZ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5994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6537960" y="48006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DB95"/>
                </a:solidFill>
                <a:latin typeface="Consolas"/>
              </a:defRPr>
            </a:pPr>
            <a:r>
              <a:t>// AI can now write queries against your real data model.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662"/>
                </a:solidFill>
                <a:latin typeface="Consolas"/>
              </a:defRPr>
            </a:pPr>
            <a:r>
              <a:t>Connects via gosnowflake driver. Reads SNOWFLAKE_ACCOUNT, SNOWFLAKE_USER, SNOWFLAKE_PASSWORD from env.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C54B"/>
                </a:solidFill>
                <a:latin typeface="Consolas"/>
              </a:defRPr>
            </a:pPr>
            <a:r>
              <a:t>Tool: capture_error_screenshot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5400"/>
          </a:xfrm>
          <a:prstGeom prst="rect">
            <a:avLst/>
          </a:prstGeom>
          <a:solidFill>
            <a:srgbClr val="F0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828E"/>
                </a:solidFill>
                <a:latin typeface="Consolas"/>
              </a:defRPr>
            </a:pPr>
            <a:r>
              <a:t>When a UI bug happens, text logs aren't enough.</a:t>
            </a:r>
            <a:br/>
            <a:r>
              <a:t>This tool captures a screenshot of the active window/screen,</a:t>
            </a:r>
            <a:br/>
            <a:r>
              <a:t>uploads it to Cloudinary, and returns the URL to the AI.</a:t>
            </a:r>
            <a:br/>
            <a:r>
              <a:t>AI can now 'see' broken layouts, missing elements, visual regressions.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5303520" cy="32004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443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318"/>
                </a:solidFill>
                <a:latin typeface="Consolas"/>
              </a:defRPr>
            </a:pPr>
            <a:r>
              <a:t>Go — screencapture + Cloudinary upload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46120"/>
            <a:ext cx="5303520" cy="5303520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func (t *ScreenshotTool) Execute(ctx context.Context,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387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args map[string]any) (any, error)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398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68680" y="39410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// macOS screencapture (non-interactive)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422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cmd := exec.CommandContext(ctx, "screencapture",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"-x",  // no camera sound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445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"-m",  // monitor (full screen)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4573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"/tmp/error_screenshot.png")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4690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if err := cmd.Run(); err != nil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4807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return nil, err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492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5040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68680" y="57515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// Upload to Cloudinary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5274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url, err := t.cloudinary.Upload(ctx,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15391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"/tmp/error_screenshot.png",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355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"devpulse-errors")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5562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if err != nil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7574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return nil, err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6958583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7159751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868680" y="7360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return map[string]any{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7562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"screenshot_url": url,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77632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"note": "AI can reference this URL for visual context",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7964423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}, nil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81655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1389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318"/>
                </a:solidFill>
                <a:latin typeface="Consolas"/>
              </a:defRPr>
            </a:pPr>
            <a:r>
              <a:t>Tool output → AI gets visual context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691640"/>
            <a:ext cx="5303520" cy="3090672"/>
          </a:xfrm>
          <a:prstGeom prst="rect">
            <a:avLst/>
          </a:prstGeom>
          <a:solidFill>
            <a:srgbClr val="0D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17830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// What the AI sees: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19842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6537960" y="21854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capture_error_screenshot() 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238658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{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258775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"screenshot_url":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2788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"https://res.cloudinary.com/devpulse/image/upload/v1/errors/screenshot_2026.png",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990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"note": "AI can reference this URL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31912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         for visual context"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33924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35935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6537960" y="37947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// Cursor can now say: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39959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"I can see the sidebar is missing in the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41970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screenshot. The nav component is not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43982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DB95"/>
                </a:solidFill>
                <a:latin typeface="Consolas"/>
              </a:defRPr>
            </a:pPr>
            <a:r>
              <a:t> rendering. Let me check the CSS."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662"/>
                </a:solidFill>
                <a:latin typeface="Consolas"/>
              </a:defRPr>
            </a:pPr>
            <a:r>
              <a:t>Cloudinary free tier: 25GB storage, 25GB bandwidth/mo. More than enough for hackathon + daily dev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E5E5"/>
                </a:solidFill>
                <a:latin typeface="Consolas"/>
              </a:defRPr>
            </a:pPr>
            <a:r>
              <a:t>Live demo — the whole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5400"/>
          </a:xfrm>
          <a:prstGeom prst="rect">
            <a:avLst/>
          </a:prstGeom>
          <a:solidFill>
            <a:srgbClr val="6AD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C54B"/>
                </a:solidFill>
                <a:latin typeface="Consolas"/>
              </a:defRPr>
            </a:pPr>
            <a:r>
              <a:t>Scenario: "The API returns 500, fix it" — developer does nothing except describe the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5E5"/>
                </a:solidFill>
                <a:latin typeface="Consolas"/>
              </a:defRPr>
            </a:pPr>
            <a:r>
              <a:t>&gt;&gt;&gt; Developer: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5E5"/>
                </a:solidFill>
                <a:latin typeface="Consolas"/>
              </a:defRPr>
            </a:pPr>
            <a:r>
              <a:t>The user API is returning 500. Fix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579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6D4E5"/>
                </a:solidFill>
                <a:latin typeface="Consolas"/>
              </a:defRPr>
            </a:pPr>
            <a:r>
              <a:t>&gt;&gt;&gt; Cursor: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5798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6D4E5"/>
                </a:solidFill>
                <a:latin typeface="Consolas"/>
              </a:defRPr>
            </a:pPr>
            <a:r>
              <a:t>Let me investigate. I'll check the container logs.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487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662"/>
                </a:solidFill>
                <a:latin typeface="Consolas"/>
              </a:defRPr>
            </a:pPr>
            <a:r>
              <a:t>[Cursor calls get_container_logs("user-api", 50)]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816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6C75"/>
                </a:solidFill>
                <a:latin typeface="Consolas"/>
              </a:defRPr>
            </a:pPr>
            <a:r>
              <a:t>→ ERROR: column "role" does not exist in table "users"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14553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5E5"/>
                </a:solidFill>
                <a:latin typeface="Consola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6D4E5"/>
                </a:solidFill>
                <a:latin typeface="Consolas"/>
              </a:defRPr>
            </a:pPr>
            <a:r>
              <a:t>&gt;&gt;&gt; Cursor: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474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6D4E5"/>
                </a:solidFill>
                <a:latin typeface="Consolas"/>
              </a:defRPr>
            </a:pPr>
            <a:r>
              <a:t>The DB schema is missing a column. Let me check.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80390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662"/>
                </a:solidFill>
                <a:latin typeface="Consolas"/>
              </a:defRPr>
            </a:pPr>
            <a:r>
              <a:t>[Cursor calls inspect_db_schema()]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13308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C54B"/>
                </a:solidFill>
                <a:latin typeface="Consolas"/>
              </a:defRPr>
            </a:pPr>
            <a:r>
              <a:t>→ users table: id, email, name, created_at (no 'role' column)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4622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5E5"/>
                </a:solidFill>
                <a:latin typeface="Consolas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31520" y="47914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6D4E5"/>
                </a:solidFill>
                <a:latin typeface="Consolas"/>
              </a:defRPr>
            </a:pPr>
            <a:r>
              <a:t>&gt;&gt;&gt; Cursor: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79145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6D4E5"/>
                </a:solidFill>
                <a:latin typeface="Consolas"/>
              </a:defRPr>
            </a:pPr>
            <a:r>
              <a:t>Found it. I'll create the migration and fix the middleware.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120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DB95"/>
                </a:solidFill>
                <a:latin typeface="Consolas"/>
              </a:defRPr>
            </a:pPr>
            <a:r>
              <a:t>→ Generated: ALTER TABLE users ADD COLUMN role VARCHAR(20)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4498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DB95"/>
                </a:solidFill>
                <a:latin typeface="Consolas"/>
              </a:defRPr>
            </a:pPr>
            <a:r>
              <a:t>→ Fixed: src/auth/middleware.py:15 — role column 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7790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5E5"/>
                </a:solidFill>
                <a:latin typeface="Consola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2103120" y="61081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662"/>
                </a:solidFill>
                <a:latin typeface="Consolas"/>
              </a:defRPr>
            </a:pPr>
            <a:r>
              <a:t>[Cursor calls run_targeted_tests("src/auth/")]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64373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DB95"/>
                </a:solidFill>
                <a:latin typeface="Consolas"/>
              </a:defRPr>
            </a:pPr>
            <a:r>
              <a:t>→ 3 tests passed, 0 failures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67665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5E5"/>
                </a:solidFill>
                <a:latin typeface="Consolas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31520" y="70957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6D4E5"/>
                </a:solidFill>
                <a:latin typeface="Consolas"/>
              </a:defRPr>
            </a:pPr>
            <a:r>
              <a:t>&gt;&gt;&gt; Cursor: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709574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6D4E5"/>
                </a:solidFill>
                <a:latin typeface="Consolas"/>
              </a:defRPr>
            </a:pPr>
            <a:r>
              <a:t>One more thing — let me check if this affects Snowflake.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7424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662"/>
                </a:solidFill>
                <a:latin typeface="Consolas"/>
              </a:defRPr>
            </a:pPr>
            <a:r>
              <a:t>[Cursor calls inspect_snowflake_schema()]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77541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C54B"/>
                </a:solidFill>
                <a:latin typeface="Consolas"/>
              </a:defRPr>
            </a:pPr>
            <a:r>
              <a:t>→ Snowflake users table also missing 'role' — flagging for 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80832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5E5"/>
                </a:solidFill>
                <a:latin typeface="Consolas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731520" y="8412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6D4E5"/>
                </a:solidFill>
                <a:latin typeface="Consolas"/>
              </a:defRPr>
            </a:pPr>
            <a:r>
              <a:t>&gt;&gt;&gt; Cursor: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8412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6D4E5"/>
                </a:solidFill>
                <a:latin typeface="Consolas"/>
              </a:defRPr>
            </a:pPr>
            <a:r>
              <a:t>Fixed. Migration, middleware, tests pass, Snowflake flagged.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ADB95"/>
                </a:solidFill>
                <a:latin typeface="Consolas"/>
              </a:defRPr>
            </a:pPr>
            <a:r>
              <a:t>Total time: ~30 seconds.  Context switches: 0.  Human intervention: 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E5E5"/>
                </a:solidFill>
                <a:latin typeface="Consolas"/>
              </a:defRPr>
            </a:pPr>
            <a:r>
              <a:t>What exists vs what we're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540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318"/>
                </a:solidFill>
                <a:latin typeface="Consolas"/>
              </a:defRPr>
            </a:pPr>
            <a:r>
              <a:t>Tool /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898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318"/>
                </a:solidFill>
                <a:latin typeface="Consolas"/>
              </a:defRPr>
            </a:pPr>
            <a:r>
              <a:t>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898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318"/>
                </a:solidFill>
                <a:latin typeface="Consolas"/>
              </a:defRPr>
            </a:pPr>
            <a:r>
              <a:t>DB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898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318"/>
                </a:solidFill>
                <a:latin typeface="Consolas"/>
              </a:defRPr>
            </a:pPr>
            <a:r>
              <a:t>Snowflake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3898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318"/>
                </a:solidFill>
                <a:latin typeface="Consolas"/>
              </a:defRPr>
            </a:pPr>
            <a:r>
              <a:t>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3898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318"/>
                </a:solidFill>
                <a:latin typeface="Consolas"/>
              </a:defRPr>
            </a:pPr>
            <a:r>
              <a:t>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13898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318"/>
                </a:solidFill>
                <a:latin typeface="Consolas"/>
              </a:defRPr>
            </a:pPr>
            <a:r>
              <a:t>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3898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318"/>
                </a:solidFill>
                <a:latin typeface="Consolas"/>
              </a:defRPr>
            </a:pPr>
            <a: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828800"/>
            <a:ext cx="7680960" cy="384048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8470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28E"/>
                </a:solidFill>
                <a:latin typeface="Consolas"/>
              </a:defRPr>
            </a:pPr>
            <a:r>
              <a:t>mcp-server-docker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847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28E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847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847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847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847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1847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847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28E"/>
                </a:solidFill>
                <a:latin typeface="Consolas"/>
              </a:defRPr>
            </a:pPr>
            <a:r>
              <a:t>Partial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240280"/>
            <a:ext cx="7680960" cy="384048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258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28E"/>
                </a:solidFill>
                <a:latin typeface="Consolas"/>
              </a:defRPr>
            </a:pPr>
            <a:r>
              <a:t>mcp-server-sqlite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2585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2585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28E"/>
                </a:solidFill>
                <a:latin typeface="Consolas"/>
              </a:defRPr>
            </a:pPr>
            <a:r>
              <a:t>✓(sqlite)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2585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2585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2585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22585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2585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28E"/>
                </a:solidFill>
                <a:latin typeface="Consolas"/>
              </a:defRPr>
            </a:pPr>
            <a:r>
              <a:t>Partial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2651760"/>
            <a:ext cx="7680960" cy="384048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6700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28E"/>
                </a:solidFill>
                <a:latin typeface="Consolas"/>
              </a:defRPr>
            </a:pPr>
            <a:r>
              <a:t>mcp-snowflake-mcp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26700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2670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2670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28E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26700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26700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59" y="26700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2670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28E"/>
                </a:solidFill>
                <a:latin typeface="Consolas"/>
              </a:defRPr>
            </a:pPr>
            <a:r>
              <a:t>Partial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3063240"/>
            <a:ext cx="7680960" cy="384048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3081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28E"/>
                </a:solidFill>
                <a:latin typeface="Consolas"/>
              </a:defRPr>
            </a:pPr>
            <a:r>
              <a:t>mcp-git-context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3081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3081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3081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3081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28E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3081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59" y="3081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6C75"/>
                </a:solidFill>
                <a:latin typeface="Consolas"/>
              </a:defRPr>
            </a:pPr>
            <a: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3081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28E"/>
                </a:solidFill>
                <a:latin typeface="Consolas"/>
              </a:defRPr>
            </a:pPr>
            <a:r>
              <a:t>Partial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3474720"/>
            <a:ext cx="7680960" cy="384048"/>
          </a:xfrm>
          <a:prstGeom prst="rect">
            <a:avLst/>
          </a:prstGeom>
          <a:solidFill>
            <a:srgbClr val="15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34930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ADB95"/>
                </a:solidFill>
                <a:latin typeface="Consolas"/>
              </a:defRPr>
            </a:pPr>
            <a:r>
              <a:t>DevPulse (ours)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34930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ADB95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34930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ADB95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34930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ADB95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0" y="34930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ADB95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34930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ADB95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59" y="34930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ADB95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79" y="34930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ADB95"/>
                </a:solidFill>
                <a:latin typeface="Consolas"/>
              </a:defRPr>
            </a:pPr>
            <a:r>
              <a:t>Full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114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A828E"/>
                </a:solidFill>
                <a:latin typeface="Consolas"/>
              </a:defRPr>
            </a:pPr>
            <a:r>
              <a:t>Nobody has built a single MCP server that covers Docker + DB + Snowflake + Git + Tests + Visual.</a:t>
            </a:r>
            <a:br/>
            <a:r>
              <a:t>Existing servers are single-purpose. We're the unified layer.</a:t>
            </a:r>
            <a:br/>
            <a:r>
              <a:t>Plus Cloudinary integration gives AI something no other server has: the ability to SEE.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5E5E5"/>
                </a:solidFill>
                <a:latin typeface="Consolas"/>
              </a:defRPr>
            </a:pPr>
            <a:r>
              <a:t>Stack and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540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1A1D24"/>
          </a:solidFill>
          <a:ln w="12700">
            <a:solidFill>
              <a:srgbClr val="56D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6D4E5"/>
                </a:solidFill>
                <a:latin typeface="Consolas"/>
              </a:defRPr>
            </a:pPr>
            <a:r>
              <a:t>Built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56D4E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Go + mcp-go SDK — fast, single binary, easy Docker API integration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56D4E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Docker Engine API via dockerode — container logs, restart, inspect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56D4E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pg driver + information_schema queries — Postgres schema introspection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56D4E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gosnowflake driver — Snowflake INFORMATION_SCHEMA queries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56D4E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Cloudinary REST API — screenshot upload, error visualization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56D4E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macOS screencapture — non-interactive window/screen capture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56D4E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Git CLI subprocess calls — blame, diff, log (no libgit2 dependency)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56D4E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pytest / jest / vitest via subprocess — run tests without API coupling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56D4E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stdio transport — zero config, works in any terminal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4754880"/>
          </a:xfrm>
          <a:prstGeom prst="roundRect">
            <a:avLst/>
          </a:prstGeom>
          <a:solidFill>
            <a:srgbClr val="1A1D24"/>
          </a:solidFill>
          <a:ln w="1270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6C75"/>
                </a:solidFill>
                <a:latin typeface="Consolas"/>
              </a:defRPr>
            </a:pPr>
            <a:r>
              <a:t>Safety guards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E06C7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No destructive operations without explicit user confirmation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06C7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restart_service requires --confirm flag from human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06C7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DB queries are read-only (SELECT only, no mutations)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06C7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Git operations never push, never force-push, never amend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06C7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Container logs are read-only — we don't exec into containers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06C75"/>
                </a:solidFill>
                <a:latin typeface="Consolas"/>
              </a:rPr>
              <a:t>→ </a:t>
            </a:r>
            <a:r>
              <a:rPr sz="1300">
                <a:solidFill>
                  <a:srgbClr val="7A828E"/>
                </a:solidFill>
                <a:latin typeface="Consolas"/>
              </a:rPr>
              <a:t>All tool calls logged locally for audit trail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5E5E5"/>
                </a:solidFill>
                <a:latin typeface="Consolas"/>
              </a:defRPr>
            </a:pPr>
            <a:r>
              <a:t>DevPulse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A828E"/>
                </a:solidFill>
                <a:latin typeface="Consolas"/>
              </a:defRPr>
            </a:pPr>
            <a:r>
              <a:t>AI editors can finally see what's actually running.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474720"/>
            <a:ext cx="2743200" cy="25400"/>
          </a:xfrm>
          <a:prstGeom prst="rect">
            <a:avLst/>
          </a:prstGeom>
          <a:solidFill>
            <a:srgbClr val="56D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6D4E5"/>
                </a:solidFill>
                <a:latin typeface="Consolas"/>
              </a:defRPr>
            </a:pPr>
            <a:r>
              <a:t>One server. Any editor. Docker. Postgres. Snowflake. Git. Tests. Screenshots. Done.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662"/>
                </a:solidFill>
                <a:latin typeface="Consolas"/>
              </a:defRPr>
            </a:pPr>
            <a:r>
              <a:t>github.com/your-team/devpulse-mcp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5E5E5"/>
                </a:solidFill>
                <a:latin typeface="Consola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